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verkleidungberlin.blogspot.com/2026/10/bewusste-vergrauung-bei-holzfassaden.html" TargetMode="External"/><Relationship Id="rId3" Type="http://schemas.openxmlformats.org/officeDocument/2006/relationships/hyperlink" Target="https://holzundhaus.github.io/holzverkleidungberlin/dateien/minimax-8d730cff82c71aa08cbbfb8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Bewusste Vergrauung bei Holzfassaden – geplante Patina statt Zufallsergebnis · Erklärende Präsentation</a:t>
            </a:r>
          </a:p>
        </p:txBody>
      </p:sp>
      <p:sp>
        <p:nvSpPr>
          <p:cNvPr id="3" name="Content Placeholder 2"/>
          <p:cNvSpPr>
            <a:spLocks noGrp="1"/>
          </p:cNvSpPr>
          <p:nvPr>
            <p:ph idx="1"/>
          </p:nvPr>
        </p:nvSpPr>
        <p:spPr/>
        <p:txBody>
          <a:bodyPr/>
          <a:lstStyle/>
          <a:p>
            <a:r>
              <a:t>Überblick: Eine graue Holzfassade ist nicht automatisch ein Mangel. Entscheidend ist, ob die Vergrauung geplant, gestalterisch gewollt und konstruktiv sinnvoll vorbereitet wurde. Der folgende Überblick ordnet natürliche Bewitterung und Vorvergrauung voneinander ab, zeigt die Rolle von Standort und Anschlüssen und nennt konkrete Fragen für die Vorbereitung eines Gesprächs mit dem Holzfachhandel. Weiterführende Hinweise zu Holzarten und Oberflächen finden sich im Ratgeber zu Holzarten und Oberflächen.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Natürliche Vergrauung und Vorvergrauung unterscheiden</a:t>
            </a:r>
          </a:p>
        </p:txBody>
      </p:sp>
      <p:sp>
        <p:nvSpPr>
          <p:cNvPr id="3" name="Content Placeholder 2"/>
          <p:cNvSpPr>
            <a:spLocks noGrp="1"/>
          </p:cNvSpPr>
          <p:nvPr>
            <p:ph idx="1"/>
          </p:nvPr>
        </p:nvSpPr>
        <p:spPr/>
        <p:txBody>
          <a:bodyPr/>
          <a:lstStyle/>
          <a:p>
            <a:pPr>
              <a:defRPr sz="1800"/>
            </a:pPr>
            <a:r>
              <a:t>Naturbelassenes Holz verändert unter Licht und Feuchte seine Farbe. Es wird zunächst heller und anschließend silbrig-grau. Dieser Wandel ist zunächst kein Schaden, sondern Teil der natürlichen Wirkung einer Außenbarkeite. Bei einer Vorvergrauung wird der gewünschte Endzustand dagegen gestalterisch vorweggenommen: Das Brett erscheint bereits ab Werk in einer definierten grauen Abstimmung, sodass die spätere Veränderung weniger stark ins Auge fällt.</a:t>
            </a:r>
          </a:p>
          <a:p>
            <a:pPr>
              <a:defRPr sz="1800"/>
            </a:pPr>
          </a:p>
          <a:p>
            <a:pPr>
              <a:defRPr sz="1800"/>
            </a:pPr>
            <a:r>
              <a:t>Die Unterscheidung ist wichtig für die Planung. Ungeplante Bewitterung erzeugt auf derselben Fassade oft unterschiedliche Grautöne. Wetterseiten werden stärker beansprucht, Schattenflächen trocknen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Natürliche Vergrauung und Vorvergrauung unterscheiden</a:t>
            </a:r>
          </a:p>
        </p:txBody>
      </p:sp>
      <p:sp>
        <p:nvSpPr>
          <p:cNvPr id="3" name="Content Placeholder 2"/>
          <p:cNvSpPr>
            <a:spLocks noGrp="1"/>
          </p:cNvSpPr>
          <p:nvPr>
            <p:ph idx="1"/>
          </p:nvPr>
        </p:nvSpPr>
        <p:spPr/>
        <p:txBody>
          <a:bodyPr/>
          <a:lstStyle/>
          <a:p>
            <a:pPr>
              <a:defRPr sz="1800"/>
            </a:pPr>
            <a:r>
              <a:t> langsamer ab, während Bereiche unter Vordächern, Fensterbänken oder an Anschlüssen lange heller bleiben. Wer eine gleichmäßige Erscheinung möchte, sollte deshalb bereits vor der Bestellung festlegen, ob die Fassade natürlich altern, vorvergraut wirken oder dauerhaft in einem bestimmten Farbton gehalten werden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und Flächen beeinflussen den Grauton</a:t>
            </a:r>
          </a:p>
        </p:txBody>
      </p:sp>
      <p:sp>
        <p:nvSpPr>
          <p:cNvPr id="3" name="Content Placeholder 2"/>
          <p:cNvSpPr>
            <a:spLocks noGrp="1"/>
          </p:cNvSpPr>
          <p:nvPr>
            <p:ph idx="1"/>
          </p:nvPr>
        </p:nvSpPr>
        <p:spPr/>
        <p:txBody>
          <a:bodyPr/>
          <a:lstStyle/>
          <a:p>
            <a:pPr>
              <a:defRPr sz="1800"/>
            </a:pPr>
            <a:r>
              <a:t>Die Lage einer Fläche ist einer der wichtigsten Faktoren für das spätere Erscheinungsbild. Eine stark beregnete Wetterseite erlebt einen höheren Wasserwechsel und vergraut in der Regel deutlicher. An einer Schattenfassade ist die Trocknung langsamer; die Fläche kann deshalb dunkler wirken und schneller moosig oder fleckig werden. Geschützte Anschlüsse unter Vordächern oder Fensterbänken behalten oft längere ihren ursprünglichen Farbton und bilden später helle Streifen.</a:t>
            </a:r>
          </a:p>
          <a:p>
            <a:pPr>
              <a:defRPr sz="1800"/>
            </a:pPr>
          </a:p>
          <a:p>
            <a:pPr>
              <a:defRPr sz="1800"/>
            </a:pPr>
            <a:r>
              <a:t>Auch sockelnahe Bereiche benötigen Aufmerksamkeit, weil Spritzwasser vom Boden die Vergrauung stärker beeinflusst. Diese Unterschiede lassen sich nicht allein durch die Auswah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und Flächen beeinflussen den Grauton</a:t>
            </a:r>
          </a:p>
        </p:txBody>
      </p:sp>
      <p:sp>
        <p:nvSpPr>
          <p:cNvPr id="3" name="Content Placeholder 2"/>
          <p:cNvSpPr>
            <a:spLocks noGrp="1"/>
          </p:cNvSpPr>
          <p:nvPr>
            <p:ph idx="1"/>
          </p:nvPr>
        </p:nvSpPr>
        <p:spPr/>
        <p:txBody>
          <a:bodyPr/>
          <a:lstStyle/>
          <a:p>
            <a:pPr>
              <a:defRPr sz="1800"/>
            </a:pPr>
            <a:r>
              <a:t>l eines Farbtons lösen. Tropfkanten, ausreichende Abstände zum Boden und durchdachte Anschlüsse gehören ebenfalls zur Planung. Ein weiterführender Ratgeber zu Holzarten und Oberflächen kann dabei helfen, die Oberfläche und das passende Pflegesystem frühzeitig gemeinsam zu betrachten.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Vorvergrauung ist gestalterisch, aber kein Ersatz für Holzschutz</a:t>
            </a:r>
          </a:p>
        </p:txBody>
      </p:sp>
      <p:sp>
        <p:nvSpPr>
          <p:cNvPr id="3" name="Content Placeholder 2"/>
          <p:cNvSpPr>
            <a:spLocks noGrp="1"/>
          </p:cNvSpPr>
          <p:nvPr>
            <p:ph idx="1"/>
          </p:nvPr>
        </p:nvSpPr>
        <p:spPr/>
        <p:txBody>
          <a:bodyPr/>
          <a:lstStyle/>
          <a:p>
            <a:pPr>
              <a:defRPr sz="1800"/>
            </a:pPr>
            <a:r>
              <a:t>Eine werksseitige Vorvergrauung verändert den Anfangszustand des Holzes. Sie beeinflusst damit den optischen Eindruck, verbessert aber nicht automatisch die bauphysikalischen Bedingungen am Gebäude. Wasser muss weiterhin abgeführt werden können, und Sockel, Ecken sowie Anschlüsse benötigen dieselbe konstruktive Planung wie bei naturbelassenen Fassaden.</a:t>
            </a:r>
          </a:p>
          <a:p>
            <a:pPr>
              <a:defRPr sz="1800"/>
            </a:pPr>
          </a:p>
          <a:p>
            <a:pPr>
              <a:defRPr sz="1800"/>
            </a:pPr>
            <a:r>
              <a:t>Wichtig ist außerdem, die Farbveränderung von möglichen Schäden zu trennen. Eine gleichmäßige graue Patina auf geeignetem Holz ist nicht automatisch problematisch. Anhaltende Feuchtigkeit hinter der Bekleidung, beschädigte Befestigungen, Risse an Stirnseiten oder ein Anschluss, der Wasser steh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Vorvergrauung ist gestalterisch, aber kein Ersatz für Holzschutz</a:t>
            </a:r>
          </a:p>
        </p:txBody>
      </p:sp>
      <p:sp>
        <p:nvSpPr>
          <p:cNvPr id="3" name="Content Placeholder 2"/>
          <p:cNvSpPr>
            <a:spLocks noGrp="1"/>
          </p:cNvSpPr>
          <p:nvPr>
            <p:ph idx="1"/>
          </p:nvPr>
        </p:nvSpPr>
        <p:spPr/>
        <p:txBody>
          <a:bodyPr/>
          <a:lstStyle/>
          <a:p>
            <a:pPr>
              <a:defRPr sz="1800"/>
            </a:pPr>
            <a:r>
              <a:t>en lässt, weisen dagegen auf konkrete bauliche Ursachen hin. Ein neuer Anstrich allein beseitigt diese Ursachen nicht. Farbe und konstruktive Prüfung sollten deshalb als zwei getrennte, aber verbundene Aufgaben behandelt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Vorbereitung der Bestellung</a:t>
            </a:r>
          </a:p>
        </p:txBody>
      </p:sp>
      <p:sp>
        <p:nvSpPr>
          <p:cNvPr id="3" name="Content Placeholder 2"/>
          <p:cNvSpPr>
            <a:spLocks noGrp="1"/>
          </p:cNvSpPr>
          <p:nvPr>
            <p:ph idx="1"/>
          </p:nvPr>
        </p:nvSpPr>
        <p:spPr/>
        <p:txBody>
          <a:bodyPr/>
          <a:lstStyle/>
          <a:p>
            <a:pPr>
              <a:defRPr sz="1800"/>
            </a:pPr>
            <a:r>
              <a:t>Vor dem Gespräch mit dem Holzfachhandel hilft es, die wichtigsten Entscheidungen schriftlich vorzubereiten. Dazu gehören der gewünschte Endzustand, die Lage der Wetterseite sowie alle geschützten Flächen. Außerdem sollten Holzart, Sortierung und vorhandene Herstellerangaben geklärt werden. Für die Oberflächenplanung ist wichtig, ob Vorvergrauung, Lasur oder deckende Beschichtung gewünscht ist und welches Beschichtungs- und Pflegesystem dazugehört.</a:t>
            </a:r>
          </a:p>
          <a:p>
            <a:pPr>
              <a:defRPr sz="1800"/>
            </a:pPr>
          </a:p>
          <a:p>
            <a:pPr>
              <a:defRPr sz="1800"/>
            </a:pPr>
            <a:r>
              <a:t>Ebenso wichtig sind die Details: Sockelausbildung, Eckausbildung, Fensteranschlüsse und Tropfkanten. Schließlich lohnt sich ein Blick auf die spätere Zugänglichkeit. Nur Flächen, die kontrolliert 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Vorbereitung der Bestellung</a:t>
            </a:r>
          </a:p>
        </p:txBody>
      </p:sp>
      <p:sp>
        <p:nvSpPr>
          <p:cNvPr id="3" name="Content Placeholder 2"/>
          <p:cNvSpPr>
            <a:spLocks noGrp="1"/>
          </p:cNvSpPr>
          <p:nvPr>
            <p:ph idx="1"/>
          </p:nvPr>
        </p:nvSpPr>
        <p:spPr/>
        <p:txBody>
          <a:bodyPr/>
          <a:lstStyle/>
          <a:p>
            <a:pPr>
              <a:defRPr sz="1800"/>
            </a:pPr>
            <a:r>
              <a:t>nd nachbehandelt werden können, lassen sich dauerhaft sinnvoll pflegen. Die zentrale Frage lautet daher nicht nur, ob die Fassade grau sein soll. Sie lautet auch, welche technischen Voraussetzungen geschaffen werden müssen, damit die gewünschte Optik nicht durch ungleiche Bewitterung oder bauliche Mängel überlagert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Bewusste Vergrauung bei Holzfassaden – geplante Patina statt Zufallsergebnis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