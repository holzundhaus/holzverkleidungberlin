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verkleidungberlin/-/blob/ba9631e0e8743df9f07b2aae5a917a0390c4cee4/_posts/2026-10-30-blitzschutz-holzverkleidung-durchfuehrung-fassade.md" TargetMode="External"/><Relationship Id="rId3" Type="http://schemas.openxmlformats.org/officeDocument/2006/relationships/hyperlink" Target="https://holzundhaus.github.io/holzverkleidungberlin/dateien/minimax-43708d05ac2eb60f4064338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Blitzschutz und Holzverkleidung: So gelingt die Durchführung durch die Fassade · Erklärende Präsentation</a:t>
            </a:r>
          </a:p>
        </p:txBody>
      </p:sp>
      <p:sp>
        <p:nvSpPr>
          <p:cNvPr id="3" name="Content Placeholder 2"/>
          <p:cNvSpPr>
            <a:spLocks noGrp="1"/>
          </p:cNvSpPr>
          <p:nvPr>
            <p:ph idx="1"/>
          </p:nvPr>
        </p:nvSpPr>
        <p:spPr/>
        <p:txBody>
          <a:bodyPr/>
          <a:lstStyle/>
          <a:p>
            <a:r>
              <a:t>Überblick: Eine Blitzschutzdurchführung durch eine hinterlüftete Holzverkleidung ist mehr als eine einzelne Bohrung: Sie muss die Bekleidung, die Unterkonstruktion, die Hinterlüftungsebene und die dahinterliegende Wand gemeinsam berücksichtigen. Dieser Ratgeber richtet sich an Bauherrinnen, Bauherren und Planende, die einen konkreten Anschluss frühzeitig mit den beteiligten Fachbetrieben abstimmen möchten. Im Mittelpunkt stehen die Schnittstelle zwischen Blitzschutz und Fassade, die Auswirkungen auf Feuchtigkeit und Luftführung sowie die wichtigsten Fragen für die Planung.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Durchführung ein Planungsthema ist</a:t>
            </a:r>
          </a:p>
        </p:txBody>
      </p:sp>
      <p:sp>
        <p:nvSpPr>
          <p:cNvPr id="3" name="Content Placeholder 2"/>
          <p:cNvSpPr>
            <a:spLocks noGrp="1"/>
          </p:cNvSpPr>
          <p:nvPr>
            <p:ph idx="1"/>
          </p:nvPr>
        </p:nvSpPr>
        <p:spPr/>
        <p:txBody>
          <a:bodyPr/>
          <a:lstStyle/>
          <a:p>
            <a:pPr>
              <a:defRPr sz="1800"/>
            </a:pPr>
            <a:r>
              <a:t>Bei einer hinterlüfteten Holzverkleidung arbeiten mehrere Schichten zusammen. Dazu gehören die sichtbare Bekleidung, die Unterkonstruktion mit Abstandshaltern, die Luftführung dahinter sowie Mauerwerk oder Wand. Eine Durchführung für einen metallenen Blitzschutzableiter muss durch diese Konstruktion geführt werden, ohne die Feuchtebalance zu beeinträchtigen. Die konkrete Lage, Geschosszahl und Bauweise des Gebäudes beeinflussen, welches Anschlussdetail erforderlich ist. Deshalb sollte die Situation am Objekt bewertet und die Durchführung nicht erst während der Montage festgelegt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und thermische Entkopplung im Blick behalten</a:t>
            </a:r>
          </a:p>
        </p:txBody>
      </p:sp>
      <p:sp>
        <p:nvSpPr>
          <p:cNvPr id="3" name="Content Placeholder 2"/>
          <p:cNvSpPr>
            <a:spLocks noGrp="1"/>
          </p:cNvSpPr>
          <p:nvPr>
            <p:ph idx="1"/>
          </p:nvPr>
        </p:nvSpPr>
        <p:spPr/>
        <p:txBody>
          <a:bodyPr/>
          <a:lstStyle/>
          <a:p>
            <a:pPr>
              <a:defRPr sz="1800"/>
            </a:pPr>
            <a:r>
              <a:t>Holz ist brennbar. Eine metallene Leitung, die durch die Bekleidung geführt wird, bildet daher eine Stelle für einen möglichen Hitzeeintrag. Im Bereich der Durchführung ist ein nicht brennbarer Durchführungsschutz vorgesehen. Dafür kommen beispielsweise metallische Hüllen oder Manschetten infrage, die den Holzwerkstoff im Umfeld thermisch entkoppeln. Die geeignete Ausführung richtet sich nach dem Anschlussdetail des Blitzschutzsystems. Wichtig ist nicht allein die sichtbare Abdeckung: Auch die Unterkonstruktion und die anschließende Führung der Leitung müssen zur Gesamtlösung passen.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Hinterlüftung und Abdichtung gemeinsam betrachten</a:t>
            </a:r>
          </a:p>
        </p:txBody>
      </p:sp>
      <p:sp>
        <p:nvSpPr>
          <p:cNvPr id="3" name="Content Placeholder 2"/>
          <p:cNvSpPr>
            <a:spLocks noGrp="1"/>
          </p:cNvSpPr>
          <p:nvPr>
            <p:ph idx="1"/>
          </p:nvPr>
        </p:nvSpPr>
        <p:spPr/>
        <p:txBody>
          <a:bodyPr/>
          <a:lstStyle/>
          <a:p>
            <a:pPr>
              <a:defRPr sz="1800"/>
            </a:pPr>
            <a:r>
              <a:t>Die Hinterlüftungsebene benötigt einen möglichst ungehinderten Luftstrom zwischen Bekleidung und Dämmung. Eine unsorgfältig ausgeführte Durchführung kann den Lüftungsquerschnitt an dieser Stelle verringern oder als Kältebrücke wirken. Zugleich darf kein Wasser in die Hinterlüftungsebene gelangen. Eine witterungsbeständige Abdichtung auf der Außenseite und eine mechanische Führung der Leitung können diese Anforderungen miteinander verbinden. Die Fuge muss also sowohl den Luftstrom als auch den Feuchteschutz berücksichtigen, statt nur eine sichtbare Stelle abzudecken.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Feuchtigkeit von der Außenseite fernhalten</a:t>
            </a:r>
          </a:p>
        </p:txBody>
      </p:sp>
      <p:sp>
        <p:nvSpPr>
          <p:cNvPr id="3" name="Content Placeholder 2"/>
          <p:cNvSpPr>
            <a:spLocks noGrp="1"/>
          </p:cNvSpPr>
          <p:nvPr>
            <p:ph idx="1"/>
          </p:nvPr>
        </p:nvSpPr>
        <p:spPr/>
        <p:txBody>
          <a:bodyPr/>
          <a:lstStyle/>
          <a:p>
            <a:pPr>
              <a:defRPr sz="1800"/>
            </a:pPr>
            <a:r>
              <a:t>Der Aufbau einer Außenfassade aus Holz ist darauf ausgelegt, dass Wasser zügig abläuft und keine stehende Feuchtigkeit entsteht. Auch eine Blitzschutzdurchführung darf dieses Prinzip nicht unterbrechen. Regenwasser darf nicht entlang der Leitung in die Unterkonstruktion oder die Wand laufen. Als Maßnahmen kommen ein Gefälle der Anschlussmanschette nach außen, Tropfkanten und eine gezielte Abdichtung auf der Wetterseite infrage. Die genaue Anordnung sollte mit dem Fachbetrieb für die Holzverkleidung und dem Blitzschutz-Fachbetrieb abgestimmt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vor der Montage geklärt sein sollten</a:t>
            </a:r>
          </a:p>
        </p:txBody>
      </p:sp>
      <p:sp>
        <p:nvSpPr>
          <p:cNvPr id="3" name="Content Placeholder 2"/>
          <p:cNvSpPr>
            <a:spLocks noGrp="1"/>
          </p:cNvSpPr>
          <p:nvPr>
            <p:ph idx="1"/>
          </p:nvPr>
        </p:nvSpPr>
        <p:spPr/>
        <p:txBody>
          <a:bodyPr/>
          <a:lstStyle/>
          <a:p>
            <a:pPr>
              <a:defRPr sz="1800"/>
            </a:pPr>
            <a:r>
              <a:t>Für die Planung ist die Position der Leitung im Fassadenbild ebenso wichtig wie die Anzahl der Durchführungen. Klären Sie, ob die Ableiter auf der Wandebene oder auf der Bekleidung verlegt werden und wie Anschlussmanschette, Durchführungshülse und Abdichtung ausgeführt werden. Die Wahl der Holzart oder Beschichtung der Außenflächen hat keinen direkten Einfluss auf die Blitzschutzdurchführung. Entscheidend sind die konstruktiven Gegebenheiten und die Abstimmung zwischen den Gewerken. Ein späterer Eingriff in eine fertige Fassade ist aufwendig und kann Anschlusspunkte beschädigen. Eine gemeinsame Abstimmung vor Beginn der Montage reduziert dies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vor der Montage geklärt sein sollten</a:t>
            </a:r>
          </a:p>
        </p:txBody>
      </p:sp>
      <p:sp>
        <p:nvSpPr>
          <p:cNvPr id="3" name="Content Placeholder 2"/>
          <p:cNvSpPr>
            <a:spLocks noGrp="1"/>
          </p:cNvSpPr>
          <p:nvPr>
            <p:ph idx="1"/>
          </p:nvPr>
        </p:nvSpPr>
        <p:spPr/>
        <p:txBody>
          <a:bodyPr/>
          <a:lstStyle/>
          <a:p>
            <a:pPr>
              <a:defRPr sz="1800"/>
            </a:pPr>
            <a:r>
              <a:t>es Risiko und schafft klare Zuständigkeiten.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Blitzschutz und Holzverkleidung: So gelingt die Durchführung durch die Fassade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