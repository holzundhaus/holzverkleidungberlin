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verkleidungberlin.wordpress.com/2026/10/27/profilhoehe-verlegerichtung-wandhoehe-raumwirkung-innenraum/" TargetMode="External"/><Relationship Id="rId3" Type="http://schemas.openxmlformats.org/officeDocument/2006/relationships/hyperlink" Target="https://holzundhaus.github.io/holzverkleidungberlin/dateien/minimax-b3e8e0b4aff7c36370fb7cf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Profilhöhe, Verlegerichtung und Wandhöhe: So verändert Holz die Raumwirkung im Innenraum · Erklärende Präsentation</a:t>
            </a:r>
          </a:p>
        </p:txBody>
      </p:sp>
      <p:sp>
        <p:nvSpPr>
          <p:cNvPr id="3" name="Content Placeholder 2"/>
          <p:cNvSpPr>
            <a:spLocks noGrp="1"/>
          </p:cNvSpPr>
          <p:nvPr>
            <p:ph idx="1"/>
          </p:nvPr>
        </p:nvSpPr>
        <p:spPr/>
        <p:txBody>
          <a:bodyPr/>
          <a:lstStyle/>
          <a:p>
            <a:r>
              <a:t>Überblick: Wer Regenwasser, Carport und Terrassenüberdachung gemeinsam plant, muss mehrere Anforderungen früh miteinander verbinden. Entscheidend ist, welche Flächen witterungsgeschützt werden sollen, wie das Regenwasser technisch bewältigt und genutzt werden kann und welche Anschlüsse an Gebäuden, Wegen oder vorhandenen Flächen entstehen. Der folgende Leitfaden strukturiert diese Fragen, ohne Festlegungen zu Material, Maßen oder örtlichen Vorschriften vorwegzunehmen. Er eignet sich als Grundlage für die weitere Abstimmung zwischen Nutzer, Fachplanung und ausführendem Betrieb.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Abgrenzung der Flächen klären</a:t>
            </a:r>
          </a:p>
        </p:txBody>
      </p:sp>
      <p:sp>
        <p:nvSpPr>
          <p:cNvPr id="3" name="Content Placeholder 2"/>
          <p:cNvSpPr>
            <a:spLocks noGrp="1"/>
          </p:cNvSpPr>
          <p:nvPr>
            <p:ph idx="1"/>
          </p:nvPr>
        </p:nvSpPr>
        <p:spPr/>
        <p:txBody>
          <a:bodyPr/>
          <a:lstStyle/>
          <a:p>
            <a:pPr>
              <a:defRPr sz="1800"/>
            </a:pPr>
            <a:r>
              <a:t>Beginnen Sie mit einer einfachen Bestandsaufnahme: Welche Flächen sollen künftig überdacht werden, welche Wege bleiben offen und welche Nutzung hat Vorrang? Für einen Carport gehören dazu die benötigte Fahrzeugbreite, die gewünschte Ein- und Ausfahrtsrichtung sowie die Begehbarkeit rund um das Dach. Für eine Terrasse sind eher Sitzplätze, Zugänge zum Gebäude und der Bereich zum anschließenden Aufbau wichtig. Prüfen Sie außerdem, ob Carport und Terrassenüberdachung getrennte Dächer, ein gemeinsames Dach oder eine bauliche Verbindung bilden sollen. Diese Grundsatzentscheidung beeinflusst die Aufteilung, die Statik und später die Anschlussdetail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Abgrenzung der Flächen klären</a:t>
            </a:r>
          </a:p>
        </p:txBody>
      </p:sp>
      <p:sp>
        <p:nvSpPr>
          <p:cNvPr id="3" name="Content Placeholder 2"/>
          <p:cNvSpPr>
            <a:spLocks noGrp="1"/>
          </p:cNvSpPr>
          <p:nvPr>
            <p:ph idx="1"/>
          </p:nvPr>
        </p:nvSpPr>
        <p:spPr/>
        <p:txBody>
          <a:bodyPr/>
          <a:lstStyle/>
          <a:p>
            <a:pPr>
              <a:defRPr sz="1800"/>
            </a:pPr>
            <a:r>
              <a:t>s. Eine Skizze mit Nutzungsbereichen, Zugängen und Abwasserwegen hilft, Widersprüche früh zu erkennen.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verstehen und sinnvoll einordnen</a:t>
            </a:r>
          </a:p>
        </p:txBody>
      </p:sp>
      <p:sp>
        <p:nvSpPr>
          <p:cNvPr id="3" name="Content Placeholder 2"/>
          <p:cNvSpPr>
            <a:spLocks noGrp="1"/>
          </p:cNvSpPr>
          <p:nvPr>
            <p:ph idx="1"/>
          </p:nvPr>
        </p:nvSpPr>
        <p:spPr/>
        <p:txBody>
          <a:bodyPr/>
          <a:lstStyle/>
          <a:p>
            <a:pPr>
              <a:defRPr sz="1800"/>
            </a:pPr>
            <a:r>
              <a:t>Bezeichnen Sie in der Planung zunächst, wo das Regenwasser von den überdachten Flächen anfällt und wohin es weitergeführt werden soll. Zu klären ist, ob das Wasser vollständig abgeleitet, gesammelt oder für eine nachgelagerte Nutzung vorbereitet werden soll. Berücksichtigen Sie dabei die jeweiligen Dachflächen, mögliche Fallhöhen, Einlaufpunkte und vorhandene Abläufe. Auch die sichtbaren Anteile sollten festgelegt werden: Rinne, Fallrohr, Sammelbehälter oder eine Kombination dieser Elemente. Entscheidend ist eine nachvollziehbare funktionale Darstellung, nicht eine fertige Lösung vor der Prüfung am Objekt. Für einen vertiefenden Einstieg biet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Regenwasser verstehen und sinnvoll einordnen</a:t>
            </a:r>
          </a:p>
        </p:txBody>
      </p:sp>
      <p:sp>
        <p:nvSpPr>
          <p:cNvPr id="3" name="Content Placeholder 2"/>
          <p:cNvSpPr>
            <a:spLocks noGrp="1"/>
          </p:cNvSpPr>
          <p:nvPr>
            <p:ph idx="1"/>
          </p:nvPr>
        </p:nvSpPr>
        <p:spPr/>
        <p:txBody>
          <a:bodyPr/>
          <a:lstStyle/>
          <a:p>
            <a:pPr>
              <a:defRPr sz="1800"/>
            </a:pPr>
            <a:r>
              <a:t>et sich der passende Beitrag zur Regenwasser-, Carport- und Terrassenüberdachung an. Ergänzend sollten später Verantwortliche für Entwässerung, Bauwerksabdichtung und örtliche Anforderungen einbezogen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Dachaufbau und Anschlüsse gemeinsam betrachten</a:t>
            </a:r>
          </a:p>
        </p:txBody>
      </p:sp>
      <p:sp>
        <p:nvSpPr>
          <p:cNvPr id="3" name="Content Placeholder 2"/>
          <p:cNvSpPr>
            <a:spLocks noGrp="1"/>
          </p:cNvSpPr>
          <p:nvPr>
            <p:ph idx="1"/>
          </p:nvPr>
        </p:nvSpPr>
        <p:spPr/>
        <p:txBody>
          <a:bodyPr/>
          <a:lstStyle/>
          <a:p>
            <a:pPr>
              <a:defRPr sz="1800"/>
            </a:pPr>
            <a:r>
              <a:t>Eine Überdachung ist nicht nur ein Dach, sondern ein Übergang zwischen mehreren Bauteilen. Zu den vorrangigen Fragen gehören die Ausbildung der Dachflächen, die Lage der Rinne, die Verbindung an Wände oder Stützen sowie die necessarye Kenntnis der angrenzenden Flächen. Prüfen Sie, ob Anschlüsse an bestehende Gebäude mit Putz, Sichtmauerwerk oder einer Holzverkleidung hergestellt werden. Unterschiedliche Untergründer und Höhen verlangen unterschiedliche Anschlussarten. Auch Übergänge zwischen Carport und Terrasse benötigen eine klare Linie, damit Wasser weder in ungeklärte Zwischenräume gelangt noch durch sichtbare Details gestört wird. Halten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Dachaufbau und Anschlüsse gemeinsam betrachten</a:t>
            </a:r>
          </a:p>
        </p:txBody>
      </p:sp>
      <p:sp>
        <p:nvSpPr>
          <p:cNvPr id="3" name="Content Placeholder 2"/>
          <p:cNvSpPr>
            <a:spLocks noGrp="1"/>
          </p:cNvSpPr>
          <p:nvPr>
            <p:ph idx="1"/>
          </p:nvPr>
        </p:nvSpPr>
        <p:spPr/>
        <p:txBody>
          <a:bodyPr/>
          <a:lstStyle/>
          <a:p>
            <a:pPr>
              <a:defRPr sz="1800"/>
            </a:pPr>
            <a:r>
              <a:t> Sie dabei fest, welche Maße noch gemessen und welche konstruktiven Anforderungen geprüft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Holzdetails planbar machen</a:t>
            </a:r>
          </a:p>
        </p:txBody>
      </p:sp>
      <p:sp>
        <p:nvSpPr>
          <p:cNvPr id="3" name="Content Placeholder 2"/>
          <p:cNvSpPr>
            <a:spLocks noGrp="1"/>
          </p:cNvSpPr>
          <p:nvPr>
            <p:ph idx="1"/>
          </p:nvPr>
        </p:nvSpPr>
        <p:spPr/>
        <p:txBody>
          <a:bodyPr/>
          <a:lstStyle/>
          <a:p>
            <a:pPr>
              <a:defRPr sz="1800"/>
            </a:pPr>
            <a:r>
              <a:t>Bei einer Holzkonstruktion sollten Vorschuss, Profil, Fugenbild und Befestigungsart als zusammenhängendes System betrachtet werden. Die sichtbare Ausrichtung kann die Wirkung der Fläche beeinflussen, während Profilhöhe und Fugenbreite das Gesamtbild prägen. Wichtig ist außerdem, wie das Holz im Bereich von Boden, Fußpunkten, Kanten und Anschlüssen behandelt und gepflegt wird. Eine Materialentscheidung sollte daher nicht allein nach Farbe oder Motiv getroffen werden. Lassen Sie Anbieter und Fachbetriebe die Eignung für die konkrete Witterungssituation, konstruktive Details und Oberflächenanforderungen erläutern. Das gewünschte Muster sollte mö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Holzdetails planbar machen</a:t>
            </a:r>
          </a:p>
        </p:txBody>
      </p:sp>
      <p:sp>
        <p:nvSpPr>
          <p:cNvPr id="3" name="Content Placeholder 2"/>
          <p:cNvSpPr>
            <a:spLocks noGrp="1"/>
          </p:cNvSpPr>
          <p:nvPr>
            <p:ph idx="1"/>
          </p:nvPr>
        </p:nvSpPr>
        <p:spPr/>
        <p:txBody>
          <a:bodyPr/>
          <a:lstStyle/>
          <a:p>
            <a:pPr>
              <a:defRPr sz="1800"/>
            </a:pPr>
            <a:r>
              <a:t>glichst unter den tatsächlichen Licht- und Wetterbedingungen beurteilt werden, statt allein am Musterstück zu wirken.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Erhöhung, Zugang und Umfeld berücksichtigen</a:t>
            </a:r>
          </a:p>
        </p:txBody>
      </p:sp>
      <p:sp>
        <p:nvSpPr>
          <p:cNvPr id="3" name="Content Placeholder 2"/>
          <p:cNvSpPr>
            <a:spLocks noGrp="1"/>
          </p:cNvSpPr>
          <p:nvPr>
            <p:ph idx="1"/>
          </p:nvPr>
        </p:nvSpPr>
        <p:spPr/>
        <p:txBody>
          <a:bodyPr/>
          <a:lstStyle/>
          <a:p>
            <a:pPr>
              <a:defRPr sz="1800"/>
            </a:pPr>
            <a:r>
              <a:t>Beachten Sie außerdem, dass Dächer, Unterkonstruktionen und Rinne Platz benötigen und dadurch die nutzbare Höhe oder lichte Breite verändern. Das betrifft sowohl Fahrzeuge und Terrassenmöbel als auch Wege und Aufbau. Kontrollieren Sie deshalb die verfügbare Resthöhe und klären Sie, wo Wartungszugänge zu Regenwasserleitungen, Dämmung oder Befestigungen bleiben. Auch die Anbindung an Eingänge, Türen und angrenzende Bodenflächen sollte in die Skizze aufgenommen werden. Für vergleichbare Entscheidungen zu Profilhöhe, Verlegerichtung, Aufbauhöhe und sichtbaren Anschlüssen bietet der weiterführende Ratgeber zur Profil- und Raumplanung einen nützlic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Erhöhung, Zugang und Umfeld berücksichtigen</a:t>
            </a:r>
          </a:p>
        </p:txBody>
      </p:sp>
      <p:sp>
        <p:nvSpPr>
          <p:cNvPr id="3" name="Content Placeholder 2"/>
          <p:cNvSpPr>
            <a:spLocks noGrp="1"/>
          </p:cNvSpPr>
          <p:nvPr>
            <p:ph idx="1"/>
          </p:nvPr>
        </p:nvSpPr>
        <p:spPr/>
        <p:txBody>
          <a:bodyPr/>
          <a:lstStyle/>
          <a:p>
            <a:pPr>
              <a:defRPr sz="1800"/>
            </a:pPr>
            <a:r>
              <a:t>hen Planungsrahmen.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Entscheidungscheckliste vor der Ausführung</a:t>
            </a:r>
          </a:p>
        </p:txBody>
      </p:sp>
      <p:sp>
        <p:nvSpPr>
          <p:cNvPr id="3" name="Content Placeholder 2"/>
          <p:cNvSpPr>
            <a:spLocks noGrp="1"/>
          </p:cNvSpPr>
          <p:nvPr>
            <p:ph idx="1"/>
          </p:nvPr>
        </p:nvSpPr>
        <p:spPr/>
        <p:txBody>
          <a:bodyPr/>
          <a:lstStyle/>
          <a:p>
            <a:pPr>
              <a:defRPr sz="1800"/>
            </a:pPr>
            <a:r>
              <a:t>Vor der Auftragsvergabe lassen Sie die wichtigsten Punkte schriftlich zusammenfassen: Nutzung der überdachten Flächen, Abgrenzung von Carport und Terrasse, gewünschte Behandlung des Regenwassers, Dachaufbau, Anschlüsse, Zugänge, Material- und Pflegeanforderungen sowie offene Prüfungen. Markieren Sie außerdem, welche Angaben bereits am Objekt verifiziert wurden und welche noch durch Messung oder fachliche Prüfung geklärt werden müssen. So lassen sich spätere Änderungen besser begründen. Das Ergebnis sollte nicht nur ein Gestaltungsvorschlag sein, sondern einen nachvollziehbaren Ablauf für Planung, Abstimmung und Ausführung ermöglichen.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Profilhöhe, Verlegerichtung und Wandhöhe: So verändert Holz die Raumwirkung im Innenraum</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