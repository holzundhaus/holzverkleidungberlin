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verkleidungberlin/waermedaemmung-und-holzverkleidung-fassade/" TargetMode="External"/><Relationship Id="rId3" Type="http://schemas.openxmlformats.org/officeDocument/2006/relationships/hyperlink" Target="https://holzundhaus.github.io/holzverkleidungberlin/dateien/minimax-13336a7f0293ad782175c42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Holzverkleidung und Wärmedämmung an der Fassade: was die Bekleidung kann und was nicht · Erklärende Präsentation</a:t>
            </a:r>
          </a:p>
        </p:txBody>
      </p:sp>
      <p:sp>
        <p:nvSpPr>
          <p:cNvPr id="3" name="Content Placeholder 2"/>
          <p:cNvSpPr>
            <a:spLocks noGrp="1"/>
          </p:cNvSpPr>
          <p:nvPr>
            <p:ph idx="1"/>
          </p:nvPr>
        </p:nvSpPr>
        <p:spPr/>
        <p:txBody>
          <a:bodyPr/>
          <a:lstStyle/>
          <a:p>
            <a:r>
              <a:t>Überblick: Eine Holzverkleidung kann eine Fassade deutlich verändern und die Außenansicht prägen. Sie schützt die dahinterliegenden Schichten und bildet eine sichtbare Oberfläche, ersetzt aber keine Wärmedämmung. Für die Planung ist deshalb entscheidend, die gestalterischen, bauphysikalischen und konstruktiven Aufgaben zu trennen. Der folgende Leitfaden zeigt, welche Funktion eine Holzschicht übernimmt, wie eine gedämmte Fassade aufgebaut sein sollte und welche Details vor der Montage geklärt werden müssen. Die Grundlagen der hinterlüfteten Holzfassade und die Auswahl der passenden Holzart und Oberfläche werden dabei gemeinsam betrachtet.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Holzverkleidung und Wärmedämmung erfüllen unterschiedliche Aufgaben</a:t>
            </a:r>
          </a:p>
        </p:txBody>
      </p:sp>
      <p:sp>
        <p:nvSpPr>
          <p:cNvPr id="3" name="Content Placeholder 2"/>
          <p:cNvSpPr>
            <a:spLocks noGrp="1"/>
          </p:cNvSpPr>
          <p:nvPr>
            <p:ph idx="1"/>
          </p:nvPr>
        </p:nvSpPr>
        <p:spPr/>
        <p:txBody>
          <a:bodyPr/>
          <a:lstStyle/>
          <a:p>
            <a:pPr>
              <a:defRPr sz="1800"/>
            </a:pPr>
            <a:r>
              <a:t>An einer Außenfassade wirken Gestaltung, Wetterschutz und Wärmedämmung gleichzeitig, technisch sind sie jedoch getrennte Aufgaben. Die Holzverkleidung prägt das Erscheinungsbild, nimmt Beschichtungen und Pflege auf und schützt die konstruktiven Schichten vor direkter Bewitterung. Die Dämmung soll dagegen den Wärmedurchgang durch das Bauteil reduzieren. Holz allein leistet dafür zu wenig: Profilbretter sind meist wenige Zentimeter dick und haben im Vergleich zu gängigen Dämmstoffen eine höhere Wärmeleitfähigkeit. Eine Bekleidung kann das Haus daher optisch und witterungsseitig verbessern, ohne automatisch energetisch besser aufzustellen.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Aufbau einer gedämmten Holzfassade</a:t>
            </a:r>
          </a:p>
        </p:txBody>
      </p:sp>
      <p:sp>
        <p:nvSpPr>
          <p:cNvPr id="3" name="Content Placeholder 2"/>
          <p:cNvSpPr>
            <a:spLocks noGrp="1"/>
          </p:cNvSpPr>
          <p:nvPr>
            <p:ph idx="1"/>
          </p:nvPr>
        </p:nvSpPr>
        <p:spPr/>
        <p:txBody>
          <a:bodyPr/>
          <a:lstStyle/>
          <a:p>
            <a:pPr>
              <a:defRPr sz="1800"/>
            </a:pPr>
            <a:r>
              <a:t>Ein typischer Aufbau besteht von innen nach außen aus dem Wandbildner, der Dämmung, einer Winddichtung beziehungsweise Dampfbremse, dem Hinterlüftungsraum, der Unterkonstruktion und der Holzverkleidung. Die Dämmstärke richtet sich nach dem energetischen Ziel und dem jeweiligen Bauteil. Die Luftschicht zwischen Dämmung und Bekleidung muss durchgehend sein und unten sowie oben geöffnet bleiben. Dadurch kann Feuchtigkeit, die etwa durch Fugen oder Anschlüsse gelangt, abgeführt werden. Die Dämmung bleibt trocken, und die Rückseiten der Bretter stehen nicht dauerhaft in stehender Nässe. Die Hinterlüftung ist deshalb ein wesentlicher Bestandteil 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Aufbau einer gedämmten Holzfassade</a:t>
            </a:r>
          </a:p>
        </p:txBody>
      </p:sp>
      <p:sp>
        <p:nvSpPr>
          <p:cNvPr id="3" name="Content Placeholder 2"/>
          <p:cNvSpPr>
            <a:spLocks noGrp="1"/>
          </p:cNvSpPr>
          <p:nvPr>
            <p:ph idx="1"/>
          </p:nvPr>
        </p:nvSpPr>
        <p:spPr/>
        <p:txBody>
          <a:bodyPr/>
          <a:lstStyle/>
          <a:p>
            <a:pPr>
              <a:defRPr sz="1800"/>
            </a:pPr>
            <a:r>
              <a:t>r Gesamtkonstruktion, kein optionales Zubehör.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Feuchteschutz entscheiden über die Dauerhaftigkeit</a:t>
            </a:r>
          </a:p>
        </p:txBody>
      </p:sp>
      <p:sp>
        <p:nvSpPr>
          <p:cNvPr id="3" name="Content Placeholder 2"/>
          <p:cNvSpPr>
            <a:spLocks noGrp="1"/>
          </p:cNvSpPr>
          <p:nvPr>
            <p:ph idx="1"/>
          </p:nvPr>
        </p:nvSpPr>
        <p:spPr/>
        <p:txBody>
          <a:bodyPr/>
          <a:lstStyle/>
          <a:p>
            <a:pPr>
              <a:defRPr sz="1800"/>
            </a:pPr>
            <a:r>
              <a:t>Vor der Auswahl von Holzart und Profil sollte der Bestand genau aufgenommen werden. Zu prüfen sind Risse, Feuchte, lose Putzstellen sowie vorhandene Dämmung. Auch Fensterbänke, Ecken, Dachrand, Sockel, Leitungen und mögliche Befestigungsflächen beeinflussen die Ausführung. Der Sockel muss Spritzwasser von der Bekleidung und vom unteren Lüftungsspalt fernhalten. Anschlüsse an Durchdringungen sollten so ausgeführt werden, dass sie nicht als Wassersammler wirken. Außerdem sind Abstände zu Geländern, Mauervorsprüngen und angrenzenden Bauteilen zu berücksichtigen. Feuchteprobleme lassen sich nicht zuverlässig verdecken, indem sie hinter neuen Bret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Feuchteschutz entscheiden über die Dauerhaftigkeit</a:t>
            </a:r>
          </a:p>
        </p:txBody>
      </p:sp>
      <p:sp>
        <p:nvSpPr>
          <p:cNvPr id="3" name="Content Placeholder 2"/>
          <p:cNvSpPr>
            <a:spLocks noGrp="1"/>
          </p:cNvSpPr>
          <p:nvPr>
            <p:ph idx="1"/>
          </p:nvPr>
        </p:nvSpPr>
        <p:spPr/>
        <p:txBody>
          <a:bodyPr/>
          <a:lstStyle/>
          <a:p>
            <a:pPr>
              <a:defRPr sz="1800"/>
            </a:pPr>
            <a:r>
              <a:t>tern verschwinden.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die Bauphysik, dann die Gestaltung</a:t>
            </a:r>
          </a:p>
        </p:txBody>
      </p:sp>
      <p:sp>
        <p:nvSpPr>
          <p:cNvPr id="3" name="Content Placeholder 2"/>
          <p:cNvSpPr>
            <a:spLocks noGrp="1"/>
          </p:cNvSpPr>
          <p:nvPr>
            <p:ph idx="1"/>
          </p:nvPr>
        </p:nvSpPr>
        <p:spPr/>
        <p:txBody>
          <a:bodyPr/>
          <a:lstStyle/>
          <a:p>
            <a:pPr>
              <a:defRPr sz="1800"/>
            </a:pPr>
            <a:r>
              <a:t>Eine zweckmäßige Reihenfolge trennt die Entscheidungen: Zuerst werden Dämmung, Luftdichtheit, Hinterlüftung und Anschlüsse geklärt. Danach folgen Holzart, Profil, offene oder geschlossene Ausführung sowie Oberflächenbehandlung und Pflegeintervall. So kann eine attraktive Bekleidung nicht über eine unzureichende Dämmung hinwegtäuschen und die Konstruktion bleibt auch dann sinnvoll, wenn später energetische Anforderungen genauer werden. Eine widerstandsfähigere Holzart ersetzt keine korrekte Feuchteführung. Die Dauerhaftigkeit hängt deshalb maßgeblich vom Aufbau und von den Details ab, nicht allein vom einzelnen Brett.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Besondere Bedingungen an Berliner Außenflächen</a:t>
            </a:r>
          </a:p>
        </p:txBody>
      </p:sp>
      <p:sp>
        <p:nvSpPr>
          <p:cNvPr id="3" name="Content Placeholder 2"/>
          <p:cNvSpPr>
            <a:spLocks noGrp="1"/>
          </p:cNvSpPr>
          <p:nvPr>
            <p:ph idx="1"/>
          </p:nvPr>
        </p:nvSpPr>
        <p:spPr/>
        <p:txBody>
          <a:bodyPr/>
          <a:lstStyle/>
          <a:p>
            <a:pPr>
              <a:defRPr sz="1800"/>
            </a:pPr>
            <a:r>
              <a:t>Bei Berliner Bestandsbauten können Denkmalschutz, Eigentümerfreigaben und örtliche Gestaltungsleitlinien die Planung beeinflussen. Auch Verschattung, Nachbarbebauung und Reflexionen verändern das Mikroklima. Eine kleine Hofwand stellt andere Anforderungen als eine hoch gelegene, frei bewitterte Fläche. Diese Bedingungen gehören daher vor die Materialentscheidung und in die Abstimmung mit den zuständigen Stellen. Wer die Gestaltung von der Dämmung trennt und die Anschlüsse sorgfältig plant, erhält eine Fassade, die Witterung und Wärmeschutz getrennt adressiert. Der ausführliche Beitrag zur gedämmten, hinterlüfteten Holzfassade bietet dafür die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Besondere Bedingungen an Berliner Außenflächen</a:t>
            </a:r>
          </a:p>
        </p:txBody>
      </p:sp>
      <p:sp>
        <p:nvSpPr>
          <p:cNvPr id="3" name="Content Placeholder 2"/>
          <p:cNvSpPr>
            <a:spLocks noGrp="1"/>
          </p:cNvSpPr>
          <p:nvPr>
            <p:ph idx="1"/>
          </p:nvPr>
        </p:nvSpPr>
        <p:spPr/>
        <p:txBody>
          <a:bodyPr/>
          <a:lstStyle/>
          <a:p>
            <a:pPr>
              <a:defRPr sz="1800"/>
            </a:pPr>
            <a:r>
              <a:t> technische Einordnung.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Holzverkleidung und Wärmedämmung an der Fassade: was die Bekleidung kann und was nicht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